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1417320"/>
            <a:ext cx="12079224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Inter"/>
              </a:rPr>
              <a:t>EducaInclui Pascal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A0"/>
                </a:solidFill>
                <a:latin typeface="Inter"/>
              </a:rPr>
              <a:t>Plataforma de cursos online desenvolvida como projeto universitario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30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8B949E"/>
                </a:solidFill>
                <a:latin typeface="Inter"/>
              </a:rPr>
              <a:t>~1:30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Inter"/>
              </a:rPr>
              <a:t>1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5669280" cy="2423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32180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>
                <a:solidFill>
                  <a:srgbClr val="00C8A0"/>
                </a:solidFill>
                <a:latin typeface="Inter"/>
              </a:rPr>
              <a:t>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que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e 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projeto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?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Site de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online com video aulas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interativas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Administradores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criam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, aulas 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perguntas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Alunos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assistem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videos 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respondem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perguntas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Perguntas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aparecem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automaticamente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conforme</a:t>
            </a:r>
            <a:r>
              <a:rPr sz="1200" dirty="0">
                <a:solidFill>
                  <a:srgbClr val="E6EDF3"/>
                </a:solidFill>
                <a:latin typeface="Inter"/>
              </a:rPr>
              <a:t> o video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avanca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Anotacoes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salvas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por</a:t>
            </a:r>
            <a:r>
              <a:rPr sz="1200" dirty="0">
                <a:solidFill>
                  <a:srgbClr val="E6EDF3"/>
                </a:solidFill>
                <a:latin typeface="Inter"/>
              </a:rPr>
              <a:t> aula,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progresso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registrado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localmente</a:t>
            </a:r>
            <a:endParaRPr sz="120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26060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532180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 err="1">
                <a:solidFill>
                  <a:srgbClr val="00C8A0"/>
                </a:solidFill>
                <a:latin typeface="Inter"/>
              </a:rPr>
              <a:t>Paginas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do Sistema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Landing Page  —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apresentacao</a:t>
            </a:r>
            <a:r>
              <a:rPr sz="1200" dirty="0">
                <a:solidFill>
                  <a:srgbClr val="E6EDF3"/>
                </a:solidFill>
                <a:latin typeface="Inter"/>
              </a:rPr>
              <a:t> + login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Dashboard Admin  —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resumo</a:t>
            </a:r>
            <a:r>
              <a:rPr sz="1200" dirty="0">
                <a:solidFill>
                  <a:srgbClr val="E6EDF3"/>
                </a:solidFill>
                <a:latin typeface="Inter"/>
              </a:rPr>
              <a:t> dos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cadastrados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Gerenciar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 —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criar</a:t>
            </a:r>
            <a:r>
              <a:rPr sz="1200" dirty="0">
                <a:solidFill>
                  <a:srgbClr val="E6EDF3"/>
                </a:solidFill>
                <a:latin typeface="Inter"/>
              </a:rPr>
              <a:t>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editar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excluir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/aulas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Area do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Aluno</a:t>
            </a:r>
            <a:r>
              <a:rPr sz="1200" dirty="0">
                <a:solidFill>
                  <a:srgbClr val="E6EDF3"/>
                </a:solidFill>
                <a:latin typeface="Inter"/>
              </a:rPr>
              <a:t>  —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buscar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filtrar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disponiveis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Player de Video  —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assistir</a:t>
            </a:r>
            <a:r>
              <a:rPr sz="1200" dirty="0">
                <a:solidFill>
                  <a:srgbClr val="E6EDF3"/>
                </a:solidFill>
                <a:latin typeface="Inter"/>
              </a:rPr>
              <a:t> aulas e responder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perguntas</a:t>
            </a:r>
            <a:endParaRPr sz="120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0760" y="1554480"/>
            <a:ext cx="5897880" cy="5166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Inter"/>
              </a:rPr>
              <a:t>Tecnologias Utilizadas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76272"/>
            <a:ext cx="5669280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Vite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6EDF3"/>
                </a:solidFill>
                <a:latin typeface="Inter"/>
              </a:rPr>
              <a:t>Ferramenta de build —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servidor</a:t>
            </a:r>
            <a:r>
              <a:rPr sz="1100" b="0" i="0" dirty="0">
                <a:solidFill>
                  <a:srgbClr val="E6EDF3"/>
                </a:solidFill>
                <a:latin typeface="Inter"/>
              </a:rPr>
              <a:t> de dev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rapido</a:t>
            </a:r>
            <a:endParaRPr sz="1100" b="0" i="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3640" y="28895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React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95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Inter"/>
              </a:rPr>
              <a:t>Biblioteca para construir a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383280"/>
            <a:ext cx="5669280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4930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React Router v6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930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6EDF3"/>
                </a:solidFill>
                <a:latin typeface="Inter"/>
              </a:rPr>
              <a:t>Controla</a:t>
            </a:r>
            <a:r>
              <a:rPr sz="1100" b="0" i="0" dirty="0">
                <a:solidFill>
                  <a:srgbClr val="E6EDF3"/>
                </a:solidFill>
                <a:latin typeface="Inter"/>
              </a:rPr>
              <a:t> a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navegacao</a:t>
            </a:r>
            <a:r>
              <a:rPr sz="1100" b="0" i="0" dirty="0">
                <a:solidFill>
                  <a:srgbClr val="E6EDF3"/>
                </a:solidFill>
                <a:latin typeface="Inter"/>
              </a:rPr>
              <a:t> entre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paginas</a:t>
            </a:r>
            <a:endParaRPr sz="1100" b="0" i="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4096511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localStorage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9651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6EDF3"/>
                </a:solidFill>
                <a:latin typeface="Inter"/>
              </a:rPr>
              <a:t>Salva dados do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usuario</a:t>
            </a:r>
            <a:r>
              <a:rPr sz="1100" b="0" i="0" dirty="0">
                <a:solidFill>
                  <a:srgbClr val="E6EDF3"/>
                </a:solidFill>
                <a:latin typeface="Inter"/>
              </a:rPr>
              <a:t> no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navegador</a:t>
            </a:r>
            <a:endParaRPr sz="1100" b="0" i="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44768" y="4590288"/>
            <a:ext cx="5669280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700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IndexedDB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00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6EDF3"/>
                </a:solidFill>
                <a:latin typeface="Inter"/>
              </a:rPr>
              <a:t>Armazena</a:t>
            </a:r>
            <a:r>
              <a:rPr sz="1100" b="0" i="0" dirty="0">
                <a:solidFill>
                  <a:srgbClr val="E6EDF3"/>
                </a:solidFill>
                <a:latin typeface="Inter"/>
              </a:rPr>
              <a:t> videos e imagens </a:t>
            </a:r>
            <a:r>
              <a:rPr sz="1100" b="0" i="0" dirty="0" err="1">
                <a:solidFill>
                  <a:srgbClr val="E6EDF3"/>
                </a:solidFill>
                <a:latin typeface="Inter"/>
              </a:rPr>
              <a:t>localmente</a:t>
            </a:r>
            <a:endParaRPr sz="1100" b="0" i="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530352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CSS puro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035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Inter"/>
              </a:rPr>
              <a:t>Estilizacao com Grid, Flexbox e variaveis 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5797296"/>
            <a:ext cx="5669280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590702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C8A0"/>
                </a:solidFill>
                <a:latin typeface="Inter"/>
              </a:rPr>
              <a:t>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9070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Inter"/>
              </a:rPr>
              <a:t>Hospedagem gratuita na nuvem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1417320"/>
            <a:ext cx="12079224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Inter"/>
              </a:rPr>
              <a:t>Estrutura de Dados: Fila (Queue - FIFO)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A0"/>
                </a:solidFill>
                <a:latin typeface="Inter"/>
              </a:rPr>
              <a:t>Como as perguntas sao liberadas conforme o video avanca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30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8B949E"/>
                </a:solidFill>
                <a:latin typeface="Inter"/>
              </a:rPr>
              <a:t>~1:45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Inter"/>
              </a:rPr>
              <a:t>2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749039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34015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00C8A0"/>
                </a:solidFill>
                <a:latin typeface="Inter"/>
              </a:rPr>
              <a:t>O Problema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Cada aula pode ter varias perguntas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Elas nao podem aparecer todas de uma vez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Devem surgir em ordem conforme o video passa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O video pausa ate o aluno responder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90672"/>
            <a:ext cx="3749039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27832"/>
            <a:ext cx="340156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00C8A0"/>
                </a:solidFill>
                <a:latin typeface="Inter"/>
              </a:rPr>
              <a:t>A Solucao: Fila FIFO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FIFO = First In, First Out (primeiro a entrar, primeiro a sair)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As perguntas entram na fila ao carregar a aula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O video monitora seu progresso (evento timeupdate)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Ao passar do ponto certo, a 1a pergunta da fila e exibida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36008"/>
            <a:ext cx="3749039" cy="2084831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773168"/>
            <a:ext cx="3401567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00C8A0"/>
                </a:solidFill>
                <a:latin typeface="Inter"/>
              </a:rPr>
              <a:t>Como funciona na pratica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Aula com 3 perguntas: fila = [P1, P2, P3]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Video em 20%: nenhuma pergunta ainda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Video em 35%: P1 sai da fila -&gt; video pausa -&gt; aluno responde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Video retoma -&gt; em 55%: P2 aparece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Video em 75%: P3 aparece -&gt; ultima pergunta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6EDF3"/>
                </a:solidFill>
                <a:latin typeface="Inter"/>
              </a:rPr>
              <a:t>•  Fila vazia -&gt; video segue ate o fim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554480"/>
            <a:ext cx="7772400" cy="516636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554480"/>
            <a:ext cx="777240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52544" y="16276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35424" y="16276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18304" y="162763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1591056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9E"/>
                </a:solidFill>
                <a:latin typeface="Consolas"/>
              </a:rPr>
              <a:t>Queue.js + CourseViewPage.jsx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65376"/>
            <a:ext cx="7452360" cy="4745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"/>
              </a:spcBef>
            </a:pPr>
            <a:r>
              <a:rPr sz="1050">
                <a:solidFill>
                  <a:srgbClr val="8B949E"/>
                </a:solidFill>
                <a:latin typeface="Consolas"/>
              </a:rPr>
              <a:t>// Fila FIFO — estrutura de dados do projeto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00C8A0"/>
                </a:solidFill>
                <a:latin typeface="Consolas"/>
              </a:rPr>
              <a:t>class Queue {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8B949E"/>
                </a:solidFill>
                <a:latin typeface="Consolas"/>
              </a:rPr>
              <a:t>  #items = []</a:t>
            </a:r>
          </a:p>
          <a:p>
            <a:pPr>
              <a:spcBef>
                <a:spcPts val="50"/>
              </a:spcBef>
            </a:pPr>
            <a:endParaRPr sz="105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enqueue(item) { this.#items.push(item) }   // adiciona no fim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dequeue()     { return this.#items.shift() } // remove do inicio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isEmpty()     { return this.#items.length === 0 }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get size()    { return this.#items.length }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50"/>
              </a:spcBef>
            </a:pPr>
            <a:endParaRPr sz="105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>
                <a:solidFill>
                  <a:srgbClr val="8B949E"/>
                </a:solidFill>
                <a:latin typeface="Consolas"/>
              </a:rPr>
              <a:t>// Ao carregar uma aula, todas as perguntas entram na fila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lesson.questions.forEach(q =&gt; questionQueue.enqueue(q))</a:t>
            </a:r>
          </a:p>
          <a:p>
            <a:pPr>
              <a:spcBef>
                <a:spcPts val="50"/>
              </a:spcBef>
            </a:pPr>
            <a:endParaRPr sz="105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>
                <a:solidFill>
                  <a:srgbClr val="8B949E"/>
                </a:solidFill>
                <a:latin typeface="Consolas"/>
              </a:rPr>
              <a:t>// O video avanca e monitora o progresso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video.addEventListener('timeupdate', () =&gt; {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00C8A0"/>
                </a:solidFill>
                <a:latin typeface="Consolas"/>
              </a:rPr>
              <a:t>  const progresso = video.currentTime / video.duration</a:t>
            </a:r>
          </a:p>
          <a:p>
            <a:pPr>
              <a:spcBef>
                <a:spcPts val="50"/>
              </a:spcBef>
            </a:pPr>
            <a:endParaRPr sz="105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>
                <a:solidFill>
                  <a:srgbClr val="8B949E"/>
                </a:solidFill>
                <a:latin typeface="Consolas"/>
              </a:rPr>
              <a:t>  // Chegou no ponto da proxima pergunta?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00C8A0"/>
                </a:solidFill>
                <a:latin typeface="Consolas"/>
              </a:rPr>
              <a:t>  if (progresso &gt;= thresholds[unlockedCount]) {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00C8A0"/>
                </a:solidFill>
                <a:latin typeface="Consolas"/>
              </a:rPr>
              <a:t>    const pergunta = questionQueue.dequeue() // tira da fila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  video.pause()                            // pausa o video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  mostrarOverlay(pergunta)                 // exibe a pergunta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  unlockedCount++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50"/>
              </a:spcBef>
            </a:pPr>
            <a:r>
              <a:rPr sz="1050">
                <a:solidFill>
                  <a:srgbClr val="E6EDF3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1417320"/>
            <a:ext cx="12079224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Inter"/>
              </a:rPr>
              <a:t>React: Componentes e Gerenciamento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A0"/>
                </a:solidFill>
                <a:latin typeface="Inter"/>
              </a:rPr>
              <a:t>Como a interface e organizada e como os dados fluem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30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8B949E"/>
                </a:solidFill>
                <a:latin typeface="Inter"/>
              </a:rPr>
              <a:t>~1:45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Inter"/>
              </a:rPr>
              <a:t>3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79476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710363"/>
            <a:ext cx="3758184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>
                <a:solidFill>
                  <a:srgbClr val="00C8A0"/>
                </a:solidFill>
                <a:latin typeface="Inter"/>
              </a:rPr>
              <a:t>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que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sao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Componentes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?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Blocos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reutilizaveis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interface (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como</a:t>
            </a:r>
            <a:r>
              <a:rPr sz="1200" dirty="0">
                <a:solidFill>
                  <a:srgbClr val="E6EDF3"/>
                </a:solidFill>
                <a:latin typeface="Inter"/>
              </a:rPr>
              <a:t> '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pecas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Lego')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Cada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componente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tem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sua</a:t>
            </a:r>
            <a:r>
              <a:rPr sz="1200" dirty="0">
                <a:solidFill>
                  <a:srgbClr val="E6EDF3"/>
                </a:solidFill>
                <a:latin typeface="Inter"/>
              </a:rPr>
              <a:t> propria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logica</a:t>
            </a:r>
            <a:r>
              <a:rPr sz="1200" dirty="0">
                <a:solidFill>
                  <a:srgbClr val="E6EDF3"/>
                </a:solidFill>
                <a:latin typeface="Inter"/>
              </a:rPr>
              <a:t> e visual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Podem</a:t>
            </a:r>
            <a:r>
              <a:rPr sz="1200" dirty="0">
                <a:solidFill>
                  <a:srgbClr val="E6EDF3"/>
                </a:solidFill>
                <a:latin typeface="Inter"/>
              </a:rPr>
              <a:t> ser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combinados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para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formar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paginas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completas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Ex: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QuestionItem</a:t>
            </a:r>
            <a:r>
              <a:rPr sz="1200" dirty="0">
                <a:solidFill>
                  <a:srgbClr val="E6EDF3"/>
                </a:solidFill>
                <a:latin typeface="Inter"/>
              </a:rPr>
              <a:t>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LessonModal</a:t>
            </a:r>
            <a:r>
              <a:rPr sz="1200" dirty="0">
                <a:solidFill>
                  <a:srgbClr val="E6EDF3"/>
                </a:solidFill>
                <a:latin typeface="Inter"/>
              </a:rPr>
              <a:t>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AddCourseModal</a:t>
            </a:r>
            <a:endParaRPr sz="120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291840"/>
            <a:ext cx="3794760" cy="14813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3324497"/>
            <a:ext cx="3639312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 err="1">
                <a:solidFill>
                  <a:srgbClr val="00C8A0"/>
                </a:solidFill>
                <a:latin typeface="Inter"/>
              </a:rPr>
              <a:t>Organizacao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do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Projeto</a:t>
            </a:r>
            <a:endParaRPr sz="1300" b="1" dirty="0">
              <a:solidFill>
                <a:srgbClr val="00C8A0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Pages  -&gt;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telas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principais</a:t>
            </a:r>
            <a:r>
              <a:rPr sz="1200" dirty="0">
                <a:solidFill>
                  <a:srgbClr val="E6EDF3"/>
                </a:solidFill>
                <a:latin typeface="Inter"/>
              </a:rPr>
              <a:t> (5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rotas</a:t>
            </a:r>
            <a:r>
              <a:rPr sz="1200" dirty="0">
                <a:solidFill>
                  <a:srgbClr val="E6EDF3"/>
                </a:solidFill>
                <a:latin typeface="Inter"/>
              </a:rPr>
              <a:t>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Modals -&gt;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janelas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adicionar</a:t>
            </a:r>
            <a:r>
              <a:rPr sz="1200" dirty="0">
                <a:solidFill>
                  <a:srgbClr val="E6EDF3"/>
                </a:solidFill>
                <a:latin typeface="Inter"/>
              </a:rPr>
              <a:t>/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editar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Items  -&gt;  partes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menores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reutilizaveis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Libs   -&gt;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servicos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dados (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localStorage</a:t>
            </a:r>
            <a:r>
              <a:rPr sz="1200" dirty="0">
                <a:solidFill>
                  <a:srgbClr val="E6EDF3"/>
                </a:solidFill>
                <a:latin typeface="Inter"/>
              </a:rPr>
              <a:t>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IndexedDB</a:t>
            </a:r>
            <a:r>
              <a:rPr sz="1200" dirty="0">
                <a:solidFill>
                  <a:srgbClr val="E6EDF3"/>
                </a:solidFill>
                <a:latin typeface="Inter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92040"/>
            <a:ext cx="37947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0"/>
                </a:solidFill>
                <a:latin typeface="Inter"/>
              </a:rPr>
              <a:t>Hooks Utilizados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766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A0"/>
                </a:solidFill>
                <a:latin typeface="Consolas"/>
              </a:rPr>
              <a:t>useState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37667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E6EDF3"/>
                </a:solidFill>
                <a:latin typeface="Inter"/>
              </a:rPr>
              <a:t>Guarda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valores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que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mudam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 a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tela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 (modal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aberto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, </a:t>
            </a:r>
            <a:r>
              <a:rPr sz="1000" b="0" i="0" dirty="0" err="1">
                <a:solidFill>
                  <a:srgbClr val="E6EDF3"/>
                </a:solidFill>
                <a:latin typeface="Inter"/>
              </a:rPr>
              <a:t>filtro</a:t>
            </a:r>
            <a:r>
              <a:rPr sz="1000" b="0" i="0" dirty="0">
                <a:solidFill>
                  <a:srgbClr val="E6EDF3"/>
                </a:solidFill>
                <a:latin typeface="Inter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875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A0"/>
                </a:solidFill>
                <a:latin typeface="Consolas"/>
              </a:rPr>
              <a:t>useEffect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6875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Inter"/>
              </a:rPr>
              <a:t>Executa codigo quando algo muda (carregar video, notas)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9846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A0"/>
                </a:solidFill>
                <a:latin typeface="Consolas"/>
              </a:rPr>
              <a:t>useRef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99846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Inter"/>
              </a:rPr>
              <a:t>Acessa o elemento &lt;video&gt; diretamente no 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8A0"/>
                </a:solidFill>
                <a:latin typeface="Consolas"/>
              </a:rPr>
              <a:t>useCallback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63093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Inter"/>
              </a:rPr>
              <a:t>Evita recriar funcoes desnecessariamente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554480"/>
            <a:ext cx="7726679" cy="516636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60" y="1554480"/>
            <a:ext cx="7726679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98264" y="16276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81144" y="16276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64024" y="162763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1591056"/>
            <a:ext cx="6995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9E"/>
                </a:solidFill>
                <a:latin typeface="Consolas"/>
              </a:rPr>
              <a:t>Exemplo: CoursesPage.jsx — adicionar curso com estado 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1865376"/>
            <a:ext cx="7406639" cy="4745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50"/>
              </a:spcBef>
            </a:pPr>
            <a:r>
              <a:rPr sz="1050" dirty="0">
                <a:solidFill>
                  <a:srgbClr val="8B949E"/>
                </a:solidFill>
                <a:latin typeface="Consolas"/>
              </a:rPr>
              <a:t>// Estado da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pagina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— React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controla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o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que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aparece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na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tela</a:t>
            </a:r>
            <a:endParaRPr sz="105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const [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cursos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setCursos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]         =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useState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([])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const [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modalAberto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setModal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]     =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useState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(false)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const [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nomeCurso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setNome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]        =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useState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('')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const [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topico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setTopico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]         =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useState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('')</a:t>
            </a:r>
          </a:p>
          <a:p>
            <a:pPr>
              <a:spcBef>
                <a:spcPts val="50"/>
              </a:spcBef>
            </a:pPr>
            <a:endParaRPr sz="105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8B949E"/>
                </a:solidFill>
                <a:latin typeface="Consolas"/>
              </a:rPr>
              <a:t>// Carrega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os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cursos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do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localStorage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ao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abrir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a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pagina</a:t>
            </a:r>
            <a:endParaRPr sz="105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 err="1">
                <a:solidFill>
                  <a:srgbClr val="E6EDF3"/>
                </a:solidFill>
                <a:latin typeface="Consolas"/>
              </a:rPr>
              <a:t>useEffect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(() =&gt; {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setCursos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CoursesDB.load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())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}, [])</a:t>
            </a:r>
          </a:p>
          <a:p>
            <a:pPr>
              <a:spcBef>
                <a:spcPts val="50"/>
              </a:spcBef>
            </a:pPr>
            <a:endParaRPr sz="105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8B949E"/>
                </a:solidFill>
                <a:latin typeface="Consolas"/>
              </a:rPr>
              <a:t>// Salva o novo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curso</a:t>
            </a:r>
            <a:endParaRPr sz="105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function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adicionarCurso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(e) {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e.preventDefault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  const novo = new Course({ id: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Date.now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(), name: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nomeCurso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topic: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topico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 })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  const 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atualizados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 = [...</a:t>
            </a:r>
            <a:r>
              <a:rPr sz="1050" dirty="0" err="1">
                <a:solidFill>
                  <a:srgbClr val="00C8A0"/>
                </a:solidFill>
                <a:latin typeface="Consolas"/>
              </a:rPr>
              <a:t>cursos</a:t>
            </a:r>
            <a:r>
              <a:rPr sz="1050" dirty="0">
                <a:solidFill>
                  <a:srgbClr val="00C8A0"/>
                </a:solidFill>
                <a:latin typeface="Consolas"/>
              </a:rPr>
              <a:t>, novo]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CoursesDB.save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atualizados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)   //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salva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 no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localStorage</a:t>
            </a:r>
            <a:endParaRPr sz="105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setCursos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atualizados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)        //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atualiza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 a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tela</a:t>
            </a:r>
            <a:endParaRPr sz="105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setModal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(false)              // 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fecha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 o modal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50"/>
              </a:spcBef>
            </a:pPr>
            <a:endParaRPr sz="105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8B949E"/>
                </a:solidFill>
                <a:latin typeface="Consolas"/>
              </a:rPr>
              <a:t>// JSX — React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renderiza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a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lista</a:t>
            </a:r>
            <a:r>
              <a:rPr sz="1050" dirty="0">
                <a:solidFill>
                  <a:srgbClr val="8B949E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8B949E"/>
                </a:solidFill>
                <a:latin typeface="Consolas"/>
              </a:rPr>
              <a:t>automaticamente</a:t>
            </a:r>
            <a:endParaRPr sz="105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00C8A0"/>
                </a:solidFill>
                <a:latin typeface="Consolas"/>
              </a:rPr>
              <a:t>return (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FFD76E"/>
                </a:solidFill>
                <a:latin typeface="Consolas"/>
              </a:rPr>
              <a:t>  &lt;div&gt;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    {</a:t>
            </a:r>
            <a:r>
              <a:rPr sz="1050" dirty="0" err="1">
                <a:solidFill>
                  <a:srgbClr val="E6EDF3"/>
                </a:solidFill>
                <a:latin typeface="Consolas"/>
              </a:rPr>
              <a:t>cursos.map</a:t>
            </a:r>
            <a:r>
              <a:rPr sz="1050" dirty="0">
                <a:solidFill>
                  <a:srgbClr val="E6EDF3"/>
                </a:solidFill>
                <a:latin typeface="Consolas"/>
              </a:rPr>
              <a:t>(c =&gt; &lt;div key={c.id}&gt;{c.name}&lt;/div&gt;)}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FFD76E"/>
                </a:solidFill>
                <a:latin typeface="Consolas"/>
              </a:rPr>
              <a:t>  &lt;/div&gt;</a:t>
            </a:r>
          </a:p>
          <a:p>
            <a:pPr>
              <a:spcBef>
                <a:spcPts val="50"/>
              </a:spcBef>
            </a:pPr>
            <a:r>
              <a:rPr sz="1050" dirty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1417320"/>
            <a:ext cx="12079224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Inter"/>
              </a:rPr>
              <a:t>Arquitetura SPA e Navegacao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A0"/>
                </a:solidFill>
                <a:latin typeface="Inter"/>
              </a:rPr>
              <a:t>Como o site funciona sem recarregar a pagina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30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8B949E"/>
                </a:solidFill>
                <a:latin typeface="Inter"/>
              </a:rPr>
              <a:t>~1:30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Inter"/>
              </a:rPr>
              <a:t>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79476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19" y="1556294"/>
            <a:ext cx="3767327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>
                <a:solidFill>
                  <a:srgbClr val="00C8A0"/>
                </a:solidFill>
                <a:latin typeface="Inter"/>
              </a:rPr>
              <a:t>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que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e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uma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SPA?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SPA = Single Page Application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navegador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carrega</a:t>
            </a:r>
            <a:r>
              <a:rPr sz="1200" dirty="0">
                <a:solidFill>
                  <a:srgbClr val="E6EDF3"/>
                </a:solidFill>
                <a:latin typeface="Inter"/>
              </a:rPr>
              <a:t> o HTML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uma</a:t>
            </a:r>
            <a:r>
              <a:rPr sz="1200" dirty="0">
                <a:solidFill>
                  <a:srgbClr val="E6EDF3"/>
                </a:solidFill>
                <a:latin typeface="Inter"/>
              </a:rPr>
              <a:t> unica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vez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navegacao</a:t>
            </a:r>
            <a:r>
              <a:rPr sz="1200" dirty="0">
                <a:solidFill>
                  <a:srgbClr val="E6EDF3"/>
                </a:solidFill>
                <a:latin typeface="Inter"/>
              </a:rPr>
              <a:t> entre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paginas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feita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pelo</a:t>
            </a:r>
            <a:r>
              <a:rPr sz="1200" dirty="0">
                <a:solidFill>
                  <a:srgbClr val="E6EDF3"/>
                </a:solidFill>
                <a:latin typeface="Inter"/>
              </a:rPr>
              <a:t> JavaScript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Mais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rapido</a:t>
            </a:r>
            <a:r>
              <a:rPr sz="1200" dirty="0">
                <a:solidFill>
                  <a:srgbClr val="E6EDF3"/>
                </a:solidFill>
                <a:latin typeface="Inter"/>
              </a:rPr>
              <a:t> — nao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precisa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recarregar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tudo</a:t>
            </a:r>
            <a:r>
              <a:rPr sz="1200" dirty="0">
                <a:solidFill>
                  <a:srgbClr val="E6EDF3"/>
                </a:solidFill>
                <a:latin typeface="Inter"/>
              </a:rPr>
              <a:t> do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servidor</a:t>
            </a:r>
            <a:endParaRPr sz="120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090672"/>
            <a:ext cx="379476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0" y="3153809"/>
            <a:ext cx="3803904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1" dirty="0" err="1">
                <a:solidFill>
                  <a:srgbClr val="00C8A0"/>
                </a:solidFill>
                <a:latin typeface="Inter"/>
              </a:rPr>
              <a:t>Protecao</a:t>
            </a:r>
            <a:r>
              <a:rPr sz="1200" b="1" dirty="0">
                <a:solidFill>
                  <a:srgbClr val="00C8A0"/>
                </a:solidFill>
                <a:latin typeface="Inter"/>
              </a:rPr>
              <a:t> de </a:t>
            </a:r>
            <a:r>
              <a:rPr sz="1200" b="1" dirty="0" err="1">
                <a:solidFill>
                  <a:srgbClr val="00C8A0"/>
                </a:solidFill>
                <a:latin typeface="Inter"/>
              </a:rPr>
              <a:t>Rotas</a:t>
            </a:r>
            <a:endParaRPr sz="1200" b="1" dirty="0">
              <a:solidFill>
                <a:srgbClr val="00C8A0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E6EDF3"/>
                </a:solidFill>
                <a:latin typeface="Inter"/>
              </a:rPr>
              <a:t>•  Nem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toda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pagina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pode</a:t>
            </a:r>
            <a:r>
              <a:rPr sz="1100" dirty="0">
                <a:solidFill>
                  <a:srgbClr val="E6EDF3"/>
                </a:solidFill>
                <a:latin typeface="Inter"/>
              </a:rPr>
              <a:t> ser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acessada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por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qualquer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usuario</a:t>
            </a:r>
            <a:endParaRPr sz="11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E6EDF3"/>
                </a:solidFill>
                <a:latin typeface="Inter"/>
              </a:rPr>
              <a:t>•  Alunos (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cliente</a:t>
            </a:r>
            <a:r>
              <a:rPr sz="1100" dirty="0">
                <a:solidFill>
                  <a:srgbClr val="E6EDF3"/>
                </a:solidFill>
                <a:latin typeface="Inter"/>
              </a:rPr>
              <a:t>) -&gt; /user e /course/:id</a:t>
            </a: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E6EDF3"/>
                </a:solidFill>
                <a:latin typeface="Inter"/>
              </a:rPr>
              <a:t>•  Admins (professor/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educacional</a:t>
            </a:r>
            <a:r>
              <a:rPr sz="1100" dirty="0">
                <a:solidFill>
                  <a:srgbClr val="E6EDF3"/>
                </a:solidFill>
                <a:latin typeface="Inter"/>
              </a:rPr>
              <a:t>) -&gt; /admin e /admin/courses</a:t>
            </a: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E6EDF3"/>
                </a:solidFill>
                <a:latin typeface="Inter"/>
              </a:rPr>
              <a:t>•  Quem nao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esta</a:t>
            </a:r>
            <a:r>
              <a:rPr sz="1100" dirty="0">
                <a:solidFill>
                  <a:srgbClr val="E6EDF3"/>
                </a:solidFill>
                <a:latin typeface="Inter"/>
              </a:rPr>
              <a:t>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logado</a:t>
            </a:r>
            <a:r>
              <a:rPr sz="1100" dirty="0">
                <a:solidFill>
                  <a:srgbClr val="E6EDF3"/>
                </a:solidFill>
                <a:latin typeface="Inter"/>
              </a:rPr>
              <a:t> e </a:t>
            </a:r>
            <a:r>
              <a:rPr sz="1100" dirty="0" err="1">
                <a:solidFill>
                  <a:srgbClr val="E6EDF3"/>
                </a:solidFill>
                <a:latin typeface="Inter"/>
              </a:rPr>
              <a:t>redirecionado</a:t>
            </a:r>
            <a:r>
              <a:rPr sz="1100" dirty="0">
                <a:solidFill>
                  <a:srgbClr val="E6EDF3"/>
                </a:solidFill>
                <a:latin typeface="Inter"/>
              </a:rPr>
              <a:t> para a home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36008"/>
            <a:ext cx="3794760" cy="2084831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4639316"/>
            <a:ext cx="3749038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>
                <a:solidFill>
                  <a:srgbClr val="00C8A0"/>
                </a:solidFill>
                <a:latin typeface="Inter"/>
              </a:rPr>
              <a:t>Deploy no </a:t>
            </a:r>
            <a:r>
              <a:rPr sz="1300" b="1" dirty="0" err="1">
                <a:solidFill>
                  <a:srgbClr val="00C8A0"/>
                </a:solidFill>
                <a:latin typeface="Inter"/>
              </a:rPr>
              <a:t>Vercel</a:t>
            </a:r>
            <a:endParaRPr sz="1300" b="1" dirty="0">
              <a:solidFill>
                <a:srgbClr val="00C8A0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Problema</a:t>
            </a:r>
            <a:r>
              <a:rPr sz="1150" dirty="0">
                <a:solidFill>
                  <a:srgbClr val="E6EDF3"/>
                </a:solidFill>
                <a:latin typeface="Inter"/>
              </a:rPr>
              <a:t>: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acessar</a:t>
            </a:r>
            <a:r>
              <a:rPr sz="1150" dirty="0">
                <a:solidFill>
                  <a:srgbClr val="E6EDF3"/>
                </a:solidFill>
                <a:latin typeface="Inter"/>
              </a:rPr>
              <a:t> /admin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diretamente</a:t>
            </a:r>
            <a:r>
              <a:rPr sz="115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daria</a:t>
            </a:r>
            <a:r>
              <a:rPr sz="115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erro</a:t>
            </a:r>
            <a:r>
              <a:rPr sz="1150" dirty="0">
                <a:solidFill>
                  <a:srgbClr val="E6EDF3"/>
                </a:solidFill>
                <a:latin typeface="Inter"/>
              </a:rPr>
              <a:t> 404</a:t>
            </a: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Em SPA, so o index.html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existe</a:t>
            </a:r>
            <a:r>
              <a:rPr sz="1150" dirty="0">
                <a:solidFill>
                  <a:srgbClr val="E6EDF3"/>
                </a:solidFill>
                <a:latin typeface="Inter"/>
              </a:rPr>
              <a:t> no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servidor</a:t>
            </a:r>
            <a:endParaRPr sz="115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Solucao</a:t>
            </a:r>
            <a:r>
              <a:rPr sz="1150" dirty="0">
                <a:solidFill>
                  <a:srgbClr val="E6EDF3"/>
                </a:solidFill>
                <a:latin typeface="Inter"/>
              </a:rPr>
              <a:t>: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vercel.json</a:t>
            </a:r>
            <a:r>
              <a:rPr sz="115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redireciona</a:t>
            </a:r>
            <a:r>
              <a:rPr sz="1150" dirty="0">
                <a:solidFill>
                  <a:srgbClr val="E6EDF3"/>
                </a:solidFill>
                <a:latin typeface="Inter"/>
              </a:rPr>
              <a:t> TUDO para o index.html</a:t>
            </a: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O React Router assume e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mostra</a:t>
            </a:r>
            <a:r>
              <a:rPr sz="1150" dirty="0">
                <a:solidFill>
                  <a:srgbClr val="E6EDF3"/>
                </a:solidFill>
                <a:latin typeface="Inter"/>
              </a:rPr>
              <a:t> a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pagina</a:t>
            </a:r>
            <a:r>
              <a:rPr sz="115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certa</a:t>
            </a:r>
            <a:endParaRPr sz="115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vercel.json</a:t>
            </a:r>
            <a:r>
              <a:rPr sz="1150" dirty="0">
                <a:solidFill>
                  <a:srgbClr val="E6EDF3"/>
                </a:solidFill>
                <a:latin typeface="Inter"/>
              </a:rPr>
              <a:t>: { "rewrites": [{ "source": "/(.*)", </a:t>
            </a: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               "destination": "/index.html" }] 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554480"/>
            <a:ext cx="7726679" cy="516636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554480"/>
            <a:ext cx="7726679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98264" y="16276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81144" y="16276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64024" y="162763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591056"/>
            <a:ext cx="69951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9E"/>
                </a:solidFill>
                <a:latin typeface="Consolas"/>
              </a:rPr>
              <a:t>App.jsx — Rotas e Protecao de Acesso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1810512"/>
            <a:ext cx="7818121" cy="4973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//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Componente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que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protege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rotas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privadas</a:t>
            </a:r>
            <a:endParaRPr sz="80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function RequireAuth({ children, roles })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const user =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Session.get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()  //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pega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o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usuario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logado</a:t>
            </a: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if (!user)  // nao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esta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logado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? volta para a home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return &lt;Navigate to='/' replace /&gt;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if (!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roles.includes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user.tipo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))  //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tipo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errado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?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redireciona</a:t>
            </a: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return &lt;Navigate to='/user' replace /&gt;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return children  //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tudo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certo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,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mostra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a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pagina</a:t>
            </a: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// Mapa de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rotas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da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aplicacao</a:t>
            </a:r>
            <a:endParaRPr sz="80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function App()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return (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&lt;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BrowserRouter</a:t>
            </a:r>
            <a:r>
              <a:rPr sz="800" dirty="0">
                <a:solidFill>
                  <a:srgbClr val="FFD76E"/>
                </a:solidFill>
                <a:latin typeface="Consolas"/>
              </a:rPr>
              <a:t>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&lt;Routes&gt;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&lt;Route path='/'     element={&lt;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LandingPage</a:t>
            </a:r>
            <a:r>
              <a:rPr sz="800" dirty="0">
                <a:solidFill>
                  <a:srgbClr val="FFD76E"/>
                </a:solidFill>
                <a:latin typeface="Consolas"/>
              </a:rPr>
              <a:t> /&gt;} /&gt;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FFD76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&lt;Route path='/admin'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      element={&lt;RequireAuth roles={['professor','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educacional</a:t>
            </a:r>
            <a:r>
              <a:rPr sz="800" dirty="0">
                <a:solidFill>
                  <a:srgbClr val="E6EDF3"/>
                </a:solidFill>
                <a:latin typeface="Consolas"/>
              </a:rPr>
              <a:t>']}&gt;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  &lt;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AdministrativePage</a:t>
            </a:r>
            <a:r>
              <a:rPr sz="800" dirty="0">
                <a:solidFill>
                  <a:srgbClr val="FFD76E"/>
                </a:solidFill>
                <a:latin typeface="Consolas"/>
              </a:rPr>
              <a:t> /&gt;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&lt;/RequireAuth&gt;} /&gt;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FFD76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&lt;Route path='/user'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      element={&lt;RequireAuth roles={['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cliente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']}&gt;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  &lt;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UserPage</a:t>
            </a:r>
            <a:r>
              <a:rPr sz="800" dirty="0">
                <a:solidFill>
                  <a:srgbClr val="FFD76E"/>
                </a:solidFill>
                <a:latin typeface="Consolas"/>
              </a:rPr>
              <a:t> /&gt;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&lt;/RequireAuth&gt;} /&gt;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FFD76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&lt;Route path='/course/: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courseId</a:t>
            </a:r>
            <a:r>
              <a:rPr sz="800" dirty="0">
                <a:solidFill>
                  <a:srgbClr val="FFD76E"/>
                </a:solidFill>
                <a:latin typeface="Consolas"/>
              </a:rPr>
              <a:t>'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      element={&lt;RequireAuth roles={['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cliente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']}&gt;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  &lt;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CourseViewPage</a:t>
            </a:r>
            <a:r>
              <a:rPr sz="800" dirty="0">
                <a:solidFill>
                  <a:srgbClr val="FFD76E"/>
                </a:solidFill>
                <a:latin typeface="Consolas"/>
              </a:rPr>
              <a:t> /&gt;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    &lt;/RequireAuth&gt;} /&gt;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  &lt;/Routes&gt;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FFD76E"/>
                </a:solidFill>
                <a:latin typeface="Consolas"/>
              </a:rPr>
              <a:t>    &lt;/</a:t>
            </a:r>
            <a:r>
              <a:rPr sz="800" dirty="0" err="1">
                <a:solidFill>
                  <a:srgbClr val="FFD76E"/>
                </a:solidFill>
                <a:latin typeface="Consolas"/>
              </a:rPr>
              <a:t>BrowserRouter</a:t>
            </a:r>
            <a:r>
              <a:rPr sz="800" dirty="0">
                <a:solidFill>
                  <a:srgbClr val="FFD76E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417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" y="1417320"/>
            <a:ext cx="12079224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Inter"/>
              </a:rPr>
              <a:t>Armazenamento de Dados no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A0"/>
                </a:solidFill>
                <a:latin typeface="Inter"/>
              </a:rPr>
              <a:t>Como o projeto guarda dados sem precisar de 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530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8B949E"/>
                </a:solidFill>
                <a:latin typeface="Inter"/>
              </a:rPr>
              <a:t>~1:45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  <a:latin typeface="Inter"/>
              </a:rPr>
              <a:t>5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361188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10574"/>
            <a:ext cx="3584448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 err="1">
                <a:solidFill>
                  <a:srgbClr val="00C8A0"/>
                </a:solidFill>
                <a:latin typeface="Inter"/>
              </a:rPr>
              <a:t>localStorage</a:t>
            </a:r>
            <a:endParaRPr sz="1300" b="1" dirty="0">
              <a:solidFill>
                <a:srgbClr val="00C8A0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Guarda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textos</a:t>
            </a:r>
            <a:r>
              <a:rPr sz="1200" dirty="0">
                <a:solidFill>
                  <a:srgbClr val="E6EDF3"/>
                </a:solidFill>
                <a:latin typeface="Inter"/>
              </a:rPr>
              <a:t> simples no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navegador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Persiste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mesmo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fechando</a:t>
            </a:r>
            <a:r>
              <a:rPr sz="1200" dirty="0">
                <a:solidFill>
                  <a:srgbClr val="E6EDF3"/>
                </a:solidFill>
                <a:latin typeface="Inter"/>
              </a:rPr>
              <a:t> 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navegador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Usado</a:t>
            </a:r>
            <a:r>
              <a:rPr sz="1200" dirty="0">
                <a:solidFill>
                  <a:srgbClr val="E6EDF3"/>
                </a:solidFill>
                <a:latin typeface="Inter"/>
              </a:rPr>
              <a:t> para: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lista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cursos</a:t>
            </a:r>
            <a:r>
              <a:rPr sz="1200" dirty="0">
                <a:solidFill>
                  <a:srgbClr val="E6EDF3"/>
                </a:solidFill>
                <a:latin typeface="Inter"/>
              </a:rPr>
              <a:t>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sessao</a:t>
            </a:r>
            <a:r>
              <a:rPr sz="1200" dirty="0">
                <a:solidFill>
                  <a:srgbClr val="E6EDF3"/>
                </a:solidFill>
                <a:latin typeface="Inter"/>
              </a:rPr>
              <a:t> do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usuario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notas</a:t>
            </a:r>
            <a:r>
              <a:rPr sz="1200" dirty="0">
                <a:solidFill>
                  <a:srgbClr val="E6EDF3"/>
                </a:solidFill>
                <a:latin typeface="Inter"/>
              </a:rPr>
              <a:t>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por</a:t>
            </a:r>
            <a:r>
              <a:rPr sz="1200" dirty="0">
                <a:solidFill>
                  <a:srgbClr val="E6EDF3"/>
                </a:solidFill>
                <a:latin typeface="Inter"/>
              </a:rPr>
              <a:t> aula,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progresso</a:t>
            </a:r>
            <a:r>
              <a:rPr sz="1200" dirty="0">
                <a:solidFill>
                  <a:srgbClr val="E6EDF3"/>
                </a:solidFill>
                <a:latin typeface="Inter"/>
              </a:rPr>
              <a:t> de aulas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concluidas</a:t>
            </a:r>
            <a:endParaRPr sz="120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Limite</a:t>
            </a:r>
            <a:r>
              <a:rPr sz="1200" dirty="0">
                <a:solidFill>
                  <a:srgbClr val="E6EDF3"/>
                </a:solidFill>
                <a:latin typeface="Inter"/>
              </a:rPr>
              <a:t>: ~5 MB </a:t>
            </a:r>
            <a:r>
              <a:rPr sz="1200" dirty="0" err="1">
                <a:solidFill>
                  <a:srgbClr val="E6EDF3"/>
                </a:solidFill>
                <a:latin typeface="Inter"/>
              </a:rPr>
              <a:t>por</a:t>
            </a:r>
            <a:r>
              <a:rPr sz="1200" dirty="0">
                <a:solidFill>
                  <a:srgbClr val="E6EDF3"/>
                </a:solidFill>
                <a:latin typeface="Inter"/>
              </a:rPr>
              <a:t> 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361188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3541123"/>
            <a:ext cx="3584448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00C8A0"/>
                </a:solidFill>
                <a:latin typeface="Inter"/>
              </a:rPr>
              <a:t>IndexedDB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Banco de dados real dentro do navegador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Suporta arquivos grandes (videos e imagens)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Usado para: armazenar arquivos .mp4 das aulas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e fotos de capa dos cursos enviadas pelo admin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EDF3"/>
                </a:solidFill>
                <a:latin typeface="Inter"/>
              </a:rPr>
              <a:t>•  Limite: varios GB (depende do disco)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349240"/>
            <a:ext cx="3611880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5292199"/>
            <a:ext cx="3611880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dirty="0" err="1">
                <a:solidFill>
                  <a:srgbClr val="00C8A0"/>
                </a:solidFill>
                <a:latin typeface="Inter"/>
              </a:rPr>
              <a:t>Modelos</a:t>
            </a:r>
            <a:r>
              <a:rPr sz="1300" b="1" dirty="0">
                <a:solidFill>
                  <a:srgbClr val="00C8A0"/>
                </a:solidFill>
                <a:latin typeface="Inter"/>
              </a:rPr>
              <a:t> de Dados</a:t>
            </a: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Course  -&gt;  id,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nome</a:t>
            </a:r>
            <a:r>
              <a:rPr sz="1150" dirty="0">
                <a:solidFill>
                  <a:srgbClr val="E6EDF3"/>
                </a:solidFill>
                <a:latin typeface="Inter"/>
              </a:rPr>
              <a:t>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topico</a:t>
            </a:r>
            <a:r>
              <a:rPr sz="1150" dirty="0">
                <a:solidFill>
                  <a:srgbClr val="E6EDF3"/>
                </a:solidFill>
                <a:latin typeface="Inter"/>
              </a:rPr>
              <a:t>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lista</a:t>
            </a:r>
            <a:r>
              <a:rPr sz="1150" dirty="0">
                <a:solidFill>
                  <a:srgbClr val="E6EDF3"/>
                </a:solidFill>
                <a:latin typeface="Inter"/>
              </a:rPr>
              <a:t> de aulas</a:t>
            </a: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Lesson  -&gt;  id,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nome</a:t>
            </a:r>
            <a:r>
              <a:rPr sz="1150" dirty="0">
                <a:solidFill>
                  <a:srgbClr val="E6EDF3"/>
                </a:solidFill>
                <a:latin typeface="Inter"/>
              </a:rPr>
              <a:t>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descricao</a:t>
            </a:r>
            <a:r>
              <a:rPr sz="1150" dirty="0">
                <a:solidFill>
                  <a:srgbClr val="E6EDF3"/>
                </a:solidFill>
                <a:latin typeface="Inter"/>
              </a:rPr>
              <a:t>, video,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perguntas</a:t>
            </a:r>
            <a:endParaRPr sz="115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Question -&gt; 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texto</a:t>
            </a:r>
            <a:r>
              <a:rPr sz="1150" dirty="0">
                <a:solidFill>
                  <a:srgbClr val="E6EDF3"/>
                </a:solidFill>
                <a:latin typeface="Inter"/>
              </a:rPr>
              <a:t>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tipo</a:t>
            </a:r>
            <a:r>
              <a:rPr sz="1150" dirty="0">
                <a:solidFill>
                  <a:srgbClr val="E6EDF3"/>
                </a:solidFill>
                <a:latin typeface="Inter"/>
              </a:rPr>
              <a:t> (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aberta</a:t>
            </a:r>
            <a:r>
              <a:rPr sz="1150" dirty="0">
                <a:solidFill>
                  <a:srgbClr val="E6EDF3"/>
                </a:solidFill>
                <a:latin typeface="Inter"/>
              </a:rPr>
              <a:t>/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fechada</a:t>
            </a:r>
            <a:r>
              <a:rPr sz="1150" dirty="0">
                <a:solidFill>
                  <a:srgbClr val="E6EDF3"/>
                </a:solidFill>
                <a:latin typeface="Inter"/>
              </a:rPr>
              <a:t>),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gabarito</a:t>
            </a:r>
            <a:endParaRPr sz="1150" dirty="0">
              <a:solidFill>
                <a:srgbClr val="E6EDF3"/>
              </a:solidFill>
              <a:latin typeface="Inter"/>
            </a:endParaRPr>
          </a:p>
          <a:p>
            <a:pPr>
              <a:spcBef>
                <a:spcPts val="500"/>
              </a:spcBef>
            </a:pPr>
            <a:r>
              <a:rPr sz="1150" dirty="0">
                <a:solidFill>
                  <a:srgbClr val="E6EDF3"/>
                </a:solidFill>
                <a:latin typeface="Inter"/>
              </a:rPr>
              <a:t>• 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fromRaw</a:t>
            </a:r>
            <a:r>
              <a:rPr sz="1150" dirty="0">
                <a:solidFill>
                  <a:srgbClr val="E6EDF3"/>
                </a:solidFill>
                <a:latin typeface="Inter"/>
              </a:rPr>
              <a:t>()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reconstroi</a:t>
            </a:r>
            <a:r>
              <a:rPr sz="1150" dirty="0">
                <a:solidFill>
                  <a:srgbClr val="E6EDF3"/>
                </a:solidFill>
                <a:latin typeface="Inter"/>
              </a:rPr>
              <a:t>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objetos</a:t>
            </a:r>
            <a:r>
              <a:rPr sz="1150" dirty="0">
                <a:solidFill>
                  <a:srgbClr val="E6EDF3"/>
                </a:solidFill>
                <a:latin typeface="Inter"/>
              </a:rPr>
              <a:t> salvos no </a:t>
            </a:r>
            <a:r>
              <a:rPr sz="1150" dirty="0" err="1">
                <a:solidFill>
                  <a:srgbClr val="E6EDF3"/>
                </a:solidFill>
                <a:latin typeface="Inter"/>
              </a:rPr>
              <a:t>localStorage</a:t>
            </a:r>
            <a:endParaRPr sz="1150" dirty="0">
              <a:solidFill>
                <a:srgbClr val="E6EDF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69080" y="1554480"/>
            <a:ext cx="7909560" cy="516636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1554480"/>
            <a:ext cx="790956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15384" y="16276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398264" y="162763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81144" y="162763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1591056"/>
            <a:ext cx="7178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9E"/>
                </a:solidFill>
                <a:latin typeface="Consolas"/>
              </a:rPr>
              <a:t>CoursesDB.js e VideoDB.js — como os dados sao salvos e lidos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1865376"/>
            <a:ext cx="5153297" cy="456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// ──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localStorage</a:t>
            </a:r>
            <a:r>
              <a:rPr sz="800" dirty="0">
                <a:solidFill>
                  <a:srgbClr val="8B949E"/>
                </a:solidFill>
                <a:latin typeface="Consolas"/>
              </a:rPr>
              <a:t>: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cursos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e aulas ────────────────────────────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const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CoursesDB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= {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  // Le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todos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os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cursos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salvos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load()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const raw =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JSON.parse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localStorage.getItem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('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pascal_courses</a:t>
            </a:r>
            <a:r>
              <a:rPr sz="800" dirty="0">
                <a:solidFill>
                  <a:srgbClr val="00C8A0"/>
                </a:solidFill>
                <a:latin typeface="Consolas"/>
              </a:rPr>
              <a:t>') || '[]')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return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raw.map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(c =&gt;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Course.fromRaw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(c))  //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reconstroi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os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objetos</a:t>
            </a: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},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  // Salva a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lista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inteira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de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cursos</a:t>
            </a:r>
            <a:endParaRPr sz="80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save(courses)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localStorage.setItem</a:t>
            </a:r>
            <a:r>
              <a:rPr sz="800" dirty="0">
                <a:solidFill>
                  <a:srgbClr val="E6EDF3"/>
                </a:solidFill>
                <a:latin typeface="Consolas"/>
              </a:rPr>
              <a:t>('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pascal_courses</a:t>
            </a:r>
            <a:r>
              <a:rPr sz="800" dirty="0">
                <a:solidFill>
                  <a:srgbClr val="E6EDF3"/>
                </a:solidFill>
                <a:latin typeface="Consolas"/>
              </a:rPr>
              <a:t>', 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JSON.stringify</a:t>
            </a:r>
            <a:r>
              <a:rPr sz="800" dirty="0">
                <a:solidFill>
                  <a:srgbClr val="E6EDF3"/>
                </a:solidFill>
                <a:latin typeface="Consolas"/>
              </a:rPr>
              <a:t>(courses))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// ──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IndexedDB</a:t>
            </a:r>
            <a:r>
              <a:rPr sz="800" dirty="0">
                <a:solidFill>
                  <a:srgbClr val="8B949E"/>
                </a:solidFill>
                <a:latin typeface="Consolas"/>
              </a:rPr>
              <a:t>: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arquivos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de video e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imagem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─────────────────────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const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VideoDB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= {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00C8A0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  // Salva um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arquivo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(Blob) com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uma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chave</a:t>
            </a:r>
            <a:endParaRPr sz="80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async save(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chave</a:t>
            </a:r>
            <a:r>
              <a:rPr sz="800" dirty="0">
                <a:solidFill>
                  <a:srgbClr val="00C8A0"/>
                </a:solidFill>
                <a:latin typeface="Consolas"/>
              </a:rPr>
              <a:t>,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arquivo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const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db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= await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abrirBanco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db.transaction</a:t>
            </a:r>
            <a:r>
              <a:rPr sz="800" dirty="0">
                <a:solidFill>
                  <a:srgbClr val="E6EDF3"/>
                </a:solidFill>
                <a:latin typeface="Consolas"/>
              </a:rPr>
              <a:t>('videos', '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readwrite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')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  .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objectStore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('videos').put(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arquivo</a:t>
            </a:r>
            <a:r>
              <a:rPr sz="800" dirty="0">
                <a:solidFill>
                  <a:srgbClr val="E6EDF3"/>
                </a:solidFill>
                <a:latin typeface="Consolas"/>
              </a:rPr>
              <a:t>, 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chave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},</a:t>
            </a:r>
          </a:p>
          <a:p>
            <a:pPr>
              <a:spcBef>
                <a:spcPts val="50"/>
              </a:spcBef>
            </a:pPr>
            <a:endParaRPr sz="800" dirty="0">
              <a:solidFill>
                <a:srgbClr val="E6EDF3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  //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Recupera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o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arquivo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pela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chave</a:t>
            </a:r>
            <a:endParaRPr sz="800" dirty="0">
              <a:solidFill>
                <a:srgbClr val="8B949E"/>
              </a:solidFill>
              <a:latin typeface="Consolas"/>
            </a:endParaRP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async get(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chave</a:t>
            </a:r>
            <a:r>
              <a:rPr sz="800" dirty="0">
                <a:solidFill>
                  <a:srgbClr val="00C8A0"/>
                </a:solidFill>
                <a:latin typeface="Consolas"/>
              </a:rPr>
              <a:t>) {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const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db</a:t>
            </a:r>
            <a:r>
              <a:rPr sz="800" dirty="0">
                <a:solidFill>
                  <a:srgbClr val="00C8A0"/>
                </a:solidFill>
                <a:latin typeface="Consolas"/>
              </a:rPr>
              <a:t> = await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abrirBanco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8B949E"/>
                </a:solidFill>
                <a:latin typeface="Consolas"/>
              </a:rPr>
              <a:t>    //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retorna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o Blob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que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vira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</a:t>
            </a:r>
            <a:r>
              <a:rPr sz="800" dirty="0" err="1">
                <a:solidFill>
                  <a:srgbClr val="8B949E"/>
                </a:solidFill>
                <a:latin typeface="Consolas"/>
              </a:rPr>
              <a:t>uma</a:t>
            </a:r>
            <a:r>
              <a:rPr sz="800" dirty="0">
                <a:solidFill>
                  <a:srgbClr val="8B949E"/>
                </a:solidFill>
                <a:latin typeface="Consolas"/>
              </a:rPr>
              <a:t> URL para o &lt;video&gt;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00C8A0"/>
                </a:solidFill>
                <a:latin typeface="Consolas"/>
              </a:rPr>
              <a:t>    return 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db.transaction</a:t>
            </a:r>
            <a:r>
              <a:rPr sz="800" dirty="0">
                <a:solidFill>
                  <a:srgbClr val="00C8A0"/>
                </a:solidFill>
                <a:latin typeface="Consolas"/>
              </a:rPr>
              <a:t>('videos', '</a:t>
            </a:r>
            <a:r>
              <a:rPr sz="800" dirty="0" err="1">
                <a:solidFill>
                  <a:srgbClr val="00C8A0"/>
                </a:solidFill>
                <a:latin typeface="Consolas"/>
              </a:rPr>
              <a:t>readonly</a:t>
            </a:r>
            <a:r>
              <a:rPr sz="800" dirty="0">
                <a:solidFill>
                  <a:srgbClr val="00C8A0"/>
                </a:solidFill>
                <a:latin typeface="Consolas"/>
              </a:rPr>
              <a:t>')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    .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objectStore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('videos').get(</a:t>
            </a:r>
            <a:r>
              <a:rPr sz="800" dirty="0" err="1">
                <a:solidFill>
                  <a:srgbClr val="E6EDF3"/>
                </a:solidFill>
                <a:latin typeface="Consolas"/>
              </a:rPr>
              <a:t>chave</a:t>
            </a:r>
            <a:r>
              <a:rPr sz="800" dirty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  }</a:t>
            </a:r>
          </a:p>
          <a:p>
            <a:pPr>
              <a:spcBef>
                <a:spcPts val="50"/>
              </a:spcBef>
            </a:pPr>
            <a:r>
              <a:rPr sz="800" dirty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1671</Words>
  <Application>Microsoft Office PowerPoint</Application>
  <PresentationFormat>Personalizar</PresentationFormat>
  <Paragraphs>242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HENRIQUE FERREIRA EMERENCIANO</cp:lastModifiedBy>
  <cp:revision>2</cp:revision>
  <dcterms:created xsi:type="dcterms:W3CDTF">2013-01-27T09:14:16Z</dcterms:created>
  <dcterms:modified xsi:type="dcterms:W3CDTF">2026-06-15T12:12:11Z</dcterms:modified>
  <cp:category/>
</cp:coreProperties>
</file>